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7324D"/>
                </a:solidFill>
              </a:defRPr>
            </a:pPr>
            <a:r>
              <a:t>Figure 1</a:t>
            </a:r>
          </a:p>
        </p:txBody>
      </p:sp>
      <p:pic>
        <p:nvPicPr>
          <p:cNvPr id="3" name="Picture 2" descr="figure_1_fgo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68680"/>
            <a:ext cx="996696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Functional geometry optimization framework. Geometry is evaluated against functional constraints before response, process loss, and shifted burden determine material per successful service.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7324D"/>
                </a:solidFill>
              </a:defRPr>
            </a:pPr>
            <a:r>
              <a:t>Figure 2</a:t>
            </a:r>
          </a:p>
        </p:txBody>
      </p:sp>
      <p:pic>
        <p:nvPicPr>
          <p:cNvPr id="3" name="Picture 2" descr="figure_2_width_compensation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68680"/>
            <a:ext cx="996696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Toilet-paper material-saving surface as a function of candidate width and width-compensation elasticity. The black boundary marks zero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7324D"/>
                </a:solidFill>
              </a:defRPr>
            </a:pPr>
            <a:r>
              <a:t>Figure 3</a:t>
            </a:r>
          </a:p>
        </p:txBody>
      </p:sp>
      <p:pic>
        <p:nvPicPr>
          <p:cNvPr id="3" name="Picture 2" descr="figure_3_observed_contrasts_and_perf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68680"/>
            <a:ext cx="996696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Patent-table width contrasts and hypothetical center-perforation task mixtures. Patent contrasts are weak non-population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7324D"/>
                </a:solidFill>
              </a:defRPr>
            </a:pPr>
            <a:r>
              <a:t>Figure 4</a:t>
            </a:r>
          </a:p>
        </p:txBody>
      </p:sp>
      <p:pic>
        <p:nvPicPr>
          <p:cNvPr id="3" name="Picture 2" descr="figure_4_straw_and_logistics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68680"/>
            <a:ext cx="996696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Straw shortening expected-additional-replacement-rate boundary and an illustrative integer-packing example. Packing dimensions are hypothetical.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7324D"/>
                </a:solidFill>
              </a:defRPr>
            </a:pPr>
            <a:r>
              <a:t>Figure 5</a:t>
            </a:r>
          </a:p>
        </p:txBody>
      </p:sp>
      <p:pic>
        <p:nvPicPr>
          <p:cNvPr id="3" name="Picture 2" descr="figure_5_scenario_uncertai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68680"/>
            <a:ext cx="996696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Configured scenario uncertainty distributions. Densities and positive proportions are not empirical probabilities.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