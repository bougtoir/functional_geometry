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487649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17324D"/>
                </a:solidFill>
              </a:defRPr>
            </a:pPr>
            <a:r>
              <a:t>Service-normalized screening of geometric source reduction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200400" cy="2606040"/>
          </a:xfrm>
          <a:prstGeom prst="roundRect">
            <a:avLst/>
          </a:prstGeom>
          <a:solidFill>
            <a:srgbClr val="1F5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ILLUSTRATIVE WIDTH</a:t>
            </a:r>
          </a:p>
          <a:p>
            <a:pPr algn="ctr">
              <a:spcBef>
                <a:spcPts val="1400"/>
              </a:spcBef>
              <a:defRPr sz="1500">
                <a:solidFill>
                  <a:srgbClr val="FFFFFF"/>
                </a:solidFill>
              </a:defRPr>
            </a:pPr>
            <a:r>
              <a:t>114→95 mm ceiling:</a:t>
            </a:r>
            <a:br/>
            <a:r>
              <a:t>16.7%</a:t>
            </a:r>
            <a:br/>
            <a:r>
              <a:t>Break-even length ratio:</a:t>
            </a:r>
            <a:br/>
            <a:r>
              <a:t>1.2×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98848" y="1097280"/>
            <a:ext cx="3200400" cy="2606040"/>
          </a:xfrm>
          <a:prstGeom prst="roundRect">
            <a:avLst/>
          </a:prstGeom>
          <a:solidFill>
            <a:srgbClr val="2F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SELECTABLE WIDTH</a:t>
            </a:r>
          </a:p>
          <a:p>
            <a:pPr algn="ctr">
              <a:spcBef>
                <a:spcPts val="1400"/>
              </a:spcBef>
              <a:defRPr sz="1500">
                <a:solidFill>
                  <a:srgbClr val="FFFFFF"/>
                </a:solidFill>
              </a:defRPr>
            </a:pPr>
            <a:r>
              <a:t>Half of tasks suitable:</a:t>
            </a:r>
            <a:br/>
            <a:r>
              <a:t>20.0%</a:t>
            </a:r>
            <a:br/>
            <a:r>
              <a:t>before penalties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40496" y="1097280"/>
            <a:ext cx="3200400" cy="2606040"/>
          </a:xfrm>
          <a:prstGeom prst="roundRect">
            <a:avLst/>
          </a:prstGeom>
          <a:solidFill>
            <a:srgbClr val="D1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SHORTER STRAW</a:t>
            </a:r>
          </a:p>
          <a:p>
            <a:pPr algn="ctr">
              <a:spcBef>
                <a:spcPts val="1400"/>
              </a:spcBef>
              <a:defRPr sz="1500">
                <a:solidFill>
                  <a:srgbClr val="FFFFFF"/>
                </a:solidFill>
              </a:defRPr>
            </a:pPr>
            <a:r>
              <a:t>20.0% shorter break-even:</a:t>
            </a:r>
            <a:br/>
            <a:r>
              <a:t>25.0% expected additional</a:t>
            </a:r>
            <a:br/>
            <a:r>
              <a:t>replacement rate</a:t>
            </a:r>
            <a:br/>
            <a:r>
              <a:t>20.0% independent failure</a:t>
            </a:r>
            <a:br/>
            <a:r>
              <a:t>probability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6052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4D5B66"/>
                </a:solidFill>
              </a:defRPr>
            </a:pPr>
            <a:r>
              <a:t>Benefit remains conditional on function, response, manufacturing, and logistics.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